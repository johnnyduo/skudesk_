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8" r:id="rId20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SKUdesk: one agent that finds the cheapest landed cost, prices a resale and checks arbitrage, only on identical products.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Evaluation file: eval/pairs.json, results eval/summary.json. Prices are asking prices from Google Shopping, not sold prices.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github.com/johnnyduo/SKUdesk_" TargetMode="External"/><Relationship Id="rId4" Type="http://schemas.openxmlformats.org/officeDocument/2006/relationships/hyperlink" Target="https://youtu.be/DgpX9r0xt9Y" TargetMode="External"/><Relationship Id="rId5" Type="http://schemas.openxmlformats.org/officeDocument/2006/relationships/hyperlink" Target="https://skudesk.lol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-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65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416052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Team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754880"/>
            <a:ext cx="1060704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b="1" sz="1700">
                <a:solidFill>
                  <a:srgbClr val="000000"/>
                </a:solidFill>
                <a:latin typeface="Arial"/>
              </a:rPr>
              <a:t>Team name: </a:t>
            </a:r>
            <a:r>
              <a:rPr sz="1700" b="0">
                <a:solidFill>
                  <a:srgbClr val="555B66"/>
                </a:solidFill>
                <a:latin typeface="Arial"/>
              </a:rPr>
              <a:t>SKUdesk</a:t>
            </a:r>
          </a:p>
          <a:p>
            <a:pPr algn="l">
              <a:spcAft>
                <a:spcPts val="500"/>
              </a:spcAft>
            </a:pPr>
            <a:r>
              <a:rPr b="1" sz="1700">
                <a:solidFill>
                  <a:srgbClr val="000000"/>
                </a:solidFill>
                <a:latin typeface="Arial"/>
              </a:rPr>
              <a:t>Team leader name: </a:t>
            </a:r>
            <a:r>
              <a:rPr sz="1700" b="0">
                <a:solidFill>
                  <a:srgbClr val="555B66"/>
                </a:solidFill>
                <a:latin typeface="Arial"/>
              </a:rPr>
              <a:t>Mr. Chonlarnatt Poonchattakarn</a:t>
            </a:r>
          </a:p>
          <a:p>
            <a:pPr algn="l">
              <a:spcAft>
                <a:spcPts val="500"/>
              </a:spcAft>
            </a:pPr>
            <a:r>
              <a:rPr b="1" sz="1700">
                <a:solidFill>
                  <a:srgbClr val="000000"/>
                </a:solidFill>
                <a:latin typeface="Arial"/>
              </a:rPr>
              <a:t>Team member: </a:t>
            </a:r>
            <a:r>
              <a:rPr sz="1700" b="0">
                <a:solidFill>
                  <a:srgbClr val="555B66"/>
                </a:solidFill>
                <a:latin typeface="Arial"/>
              </a:rPr>
              <a:t>Ms. Ploypitcha Boontavipitak</a:t>
            </a:r>
          </a:p>
          <a:p>
            <a:pPr algn="l">
              <a:spcAft>
                <a:spcPts val="500"/>
              </a:spcAft>
            </a:pPr>
            <a:r>
              <a:rPr b="1" sz="1700">
                <a:solidFill>
                  <a:srgbClr val="000000"/>
                </a:solidFill>
                <a:latin typeface="Arial"/>
              </a:rPr>
              <a:t>Problem statement: </a:t>
            </a:r>
            <a:r>
              <a:rPr sz="1700" b="0">
                <a:solidFill>
                  <a:srgbClr val="555B66"/>
                </a:solidFill>
                <a:latin typeface="Arial"/>
              </a:rPr>
              <a:t>Shoppers and small resellers cannot tell whether a cheaper listing is the identical product, so a “deal” is often a different model, a case or a clone. SKUdesk finds the cheapest landed cost, prices a resale and checks arbitrage only on provably identical products.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l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0000"/>
                </a:solidFill>
                <a:latin typeface="Arial"/>
              </a:rPr>
              <a:t>Brief about 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4712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•  One agent, three jobs. </a:t>
            </a:r>
            <a:r>
              <a:rPr sz="1800" b="0">
                <a:solidFill>
                  <a:srgbClr val="555B66"/>
                </a:solidFill>
                <a:latin typeface="Arial"/>
              </a:rPr>
              <a:t>It finds the cheapest landed cost, prices a resale and checks arbitrage, but only when two listings are the identical product.</a:t>
            </a:r>
          </a:p>
          <a:p>
            <a:pPr algn="l">
              <a:spcAft>
                <a:spcPts val="130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•  Gemini is the identity gate. </a:t>
            </a:r>
            <a:r>
              <a:rPr sz="1800" b="0">
                <a:solidFill>
                  <a:srgbClr val="555B66"/>
                </a:solidFill>
                <a:latin typeface="Arial"/>
              </a:rPr>
              <a:t>It must quote the brand and model it relied on, and our code checks that the quotes really appear in the listing. A second Gemini step looks at the photo and can only take a match away.</a:t>
            </a:r>
          </a:p>
          <a:p>
            <a:pPr algn="l">
              <a:spcAft>
                <a:spcPts val="130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•  The honest “no” is the product. </a:t>
            </a:r>
            <a:r>
              <a:rPr sz="1800" b="0">
                <a:solidFill>
                  <a:srgbClr val="555B66"/>
                </a:solidFill>
                <a:latin typeface="Arial"/>
              </a:rPr>
              <a:t>No identical product, or no gap left after fees, returns and postage: the agent says so and shows every listing it turned down. A wrong “yes” loses money.</a:t>
            </a:r>
          </a:p>
          <a:p>
            <a:pPr algn="l">
              <a:spcAft>
                <a:spcPts val="130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•  A person approves every spend. </a:t>
            </a:r>
            <a:r>
              <a:rPr sz="1800" b="0">
                <a:solidFill>
                  <a:srgbClr val="555B66"/>
                </a:solidFill>
                <a:latin typeface="Arial"/>
              </a:rPr>
              <a:t>The agent never buys anything itself. Each buy is a proposal; an approved resale can then be listed in Google Merchant Center by the owner.</a:t>
            </a:r>
          </a:p>
          <a:p>
            <a:pPr algn="l">
              <a:spcAft>
                <a:spcPts val="130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•  Real services, live now. </a:t>
            </a:r>
            <a:r>
              <a:rPr sz="1800" b="0">
                <a:solidFill>
                  <a:srgbClr val="555B66"/>
                </a:solidFill>
                <a:latin typeface="Arial"/>
              </a:rPr>
              <a:t>Google Shopping results, Gemini, Cloud Run, Firestore, Cloud Scheduler, Secret Manager and the Merchant API, at skudesk.lol.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l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0000"/>
                </a:solidFill>
                <a:latin typeface="Arial"/>
              </a:rPr>
              <a:t>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47120" cy="3000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b="1" sz="1700">
                <a:solidFill>
                  <a:srgbClr val="000000"/>
                </a:solidFill>
                <a:latin typeface="Arial"/>
              </a:rPr>
              <a:t>•  How different is it? </a:t>
            </a:r>
            <a:r>
              <a:rPr sz="1700" b="0">
                <a:solidFill>
                  <a:srgbClr val="555B66"/>
                </a:solidFill>
                <a:latin typeface="Arial"/>
              </a:rPr>
              <a:t>Price trackers compare titles and show a “lowest price” that is often another model, an accessory or a clone. SKUdesk makes identity the first gate and shows every listing it turned down and why.</a:t>
            </a:r>
          </a:p>
          <a:p>
            <a:pPr algn="l">
              <a:spcAft>
                <a:spcPts val="1000"/>
              </a:spcAft>
            </a:pPr>
            <a:r>
              <a:rPr b="1" sz="1700">
                <a:solidFill>
                  <a:srgbClr val="000000"/>
                </a:solidFill>
                <a:latin typeface="Arial"/>
              </a:rPr>
              <a:t>•  How does it solve the problem? </a:t>
            </a:r>
            <a:r>
              <a:rPr sz="1700" b="0">
                <a:solidFill>
                  <a:srgbClr val="555B66"/>
                </a:solidFill>
                <a:latin typeface="Arial"/>
              </a:rPr>
              <a:t>A two-step identity check (text with quoted evidence, then the photo), a price-sanity filter for impossible prices, and a cost model in integer cents: landed cost, 13% marketplace fee, 2% returns reserve, outbound postage and a margin floor.</a:t>
            </a:r>
          </a:p>
          <a:p>
            <a:pPr algn="l">
              <a:spcAft>
                <a:spcPts val="1000"/>
              </a:spcAft>
            </a:pPr>
            <a:r>
              <a:rPr b="1" sz="1700">
                <a:solidFill>
                  <a:srgbClr val="000000"/>
                </a:solidFill>
                <a:latin typeface="Arial"/>
              </a:rPr>
              <a:t>•  USP </a:t>
            </a:r>
            <a:r>
              <a:rPr sz="1700" b="0">
                <a:solidFill>
                  <a:srgbClr val="555B66"/>
                </a:solidFill>
                <a:latin typeface="Arial"/>
              </a:rPr>
              <a:t>The honest “no”. 67 labelled product pairs ran against the real model with zero wrong matches, and a person approves every spend. A market view shows asks, four buyer policies’ bids and the spread, so the reason for a “no” is visible.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25112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Measured on the live service (18 Oct 2026, 12 products watched)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709160"/>
            <a:ext cx="2651760" cy="1051560"/>
          </a:xfrm>
          <a:prstGeom prst="roundRect">
            <a:avLst>
              <a:gd name="adj" fmla="val 10000"/>
            </a:avLst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/>
          <a:lstStyle/>
          <a:p>
            <a:pPr algn="ctr"/>
            <a:r>
              <a:rPr sz="2600" b="1">
                <a:solidFill>
                  <a:srgbClr val="CCFF00"/>
                </a:solidFill>
                <a:latin typeface="Arial"/>
              </a:rPr>
              <a:t>249</a:t>
            </a:r>
          </a:p>
          <a:p>
            <a:pPr algn="ctr"/>
            <a:r>
              <a:rPr sz="1100" b="0">
                <a:solidFill>
                  <a:srgbClr val="DDE1E6"/>
                </a:solidFill>
                <a:latin typeface="Arial"/>
              </a:rPr>
              <a:t>listings screened by the identity gate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4709160"/>
            <a:ext cx="2651760" cy="1051560"/>
          </a:xfrm>
          <a:prstGeom prst="roundRect">
            <a:avLst>
              <a:gd name="adj" fmla="val 10000"/>
            </a:avLst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/>
          <a:lstStyle/>
          <a:p>
            <a:pPr algn="ctr"/>
            <a:r>
              <a:rPr sz="2600" b="1">
                <a:solidFill>
                  <a:srgbClr val="CCFF00"/>
                </a:solidFill>
                <a:latin typeface="Arial"/>
              </a:rPr>
              <a:t>201</a:t>
            </a:r>
          </a:p>
          <a:p>
            <a:pPr algn="ctr"/>
            <a:r>
              <a:rPr sz="1100" b="0">
                <a:solidFill>
                  <a:srgbClr val="DDE1E6"/>
                </a:solidFill>
                <a:latin typeface="Arial"/>
              </a:rPr>
              <a:t>turned down: not the same product (81%)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4709160"/>
            <a:ext cx="2651760" cy="1051560"/>
          </a:xfrm>
          <a:prstGeom prst="roundRect">
            <a:avLst>
              <a:gd name="adj" fmla="val 10000"/>
            </a:avLst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/>
          <a:lstStyle/>
          <a:p>
            <a:pPr algn="ctr"/>
            <a:r>
              <a:rPr sz="2600" b="1">
                <a:solidFill>
                  <a:srgbClr val="CCFF00"/>
                </a:solidFill>
                <a:latin typeface="Arial"/>
              </a:rPr>
              <a:t>14</a:t>
            </a:r>
          </a:p>
          <a:p>
            <a:pPr algn="ctr"/>
            <a:r>
              <a:rPr sz="1100" b="0">
                <a:solidFill>
                  <a:srgbClr val="DDE1E6"/>
                </a:solidFill>
                <a:latin typeface="Arial"/>
              </a:rPr>
              <a:t>impossible prices set aside as bad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4709160"/>
            <a:ext cx="2651760" cy="1051560"/>
          </a:xfrm>
          <a:prstGeom prst="roundRect">
            <a:avLst>
              <a:gd name="adj" fmla="val 10000"/>
            </a:avLst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/>
          <a:lstStyle/>
          <a:p>
            <a:pPr algn="ctr"/>
            <a:r>
              <a:rPr sz="2600" b="1">
                <a:solidFill>
                  <a:srgbClr val="CCFF00"/>
                </a:solidFill>
                <a:latin typeface="Arial"/>
              </a:rPr>
              <a:t>$6,995</a:t>
            </a:r>
          </a:p>
          <a:p>
            <a:pPr algn="ctr"/>
            <a:r>
              <a:rPr sz="1100" b="0">
                <a:solidFill>
                  <a:srgbClr val="DDE1E6"/>
                </a:solidFill>
                <a:latin typeface="Arial"/>
              </a:rPr>
              <a:t>of fake discounts the agent refused to trade 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833872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Arial"/>
              </a:rPr>
              <a:t>Figures come from the run-metrics page at skudesk.lol and keep growing as the scheduler checks the watchlist.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l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0000"/>
                </a:solidFill>
                <a:latin typeface="Arial"/>
              </a:rPr>
              <a:t>List of features offered by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57784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100"/>
              </a:spcAft>
            </a:pPr>
            <a:r>
              <a:rPr b="1" sz="1700">
                <a:solidFill>
                  <a:srgbClr val="000000"/>
                </a:solidFill>
                <a:latin typeface="Arial"/>
              </a:rPr>
              <a:t>•  Identity gate </a:t>
            </a:r>
            <a:r>
              <a:rPr sz="1700" b="0">
                <a:solidFill>
                  <a:srgbClr val="555B66"/>
                </a:solidFill>
                <a:latin typeface="Arial"/>
              </a:rPr>
              <a:t>Gemini quotes brand and model; code verifies the quotes and reads storage size and model tier itself.</a:t>
            </a:r>
          </a:p>
          <a:p>
            <a:pPr algn="l">
              <a:spcAft>
                <a:spcPts val="1100"/>
              </a:spcAft>
            </a:pPr>
            <a:r>
              <a:rPr b="1" sz="1700">
                <a:solidFill>
                  <a:srgbClr val="000000"/>
                </a:solidFill>
                <a:latin typeface="Arial"/>
              </a:rPr>
              <a:t>•  Photo check </a:t>
            </a:r>
            <a:r>
              <a:rPr sz="1700" b="0">
                <a:solidFill>
                  <a:srgbClr val="555B66"/>
                </a:solidFill>
                <a:latin typeface="Arial"/>
              </a:rPr>
              <a:t>Gemini compares each matching photo with the requested product and can only take a match away.</a:t>
            </a:r>
          </a:p>
          <a:p>
            <a:pPr algn="l">
              <a:spcAft>
                <a:spcPts val="1100"/>
              </a:spcAft>
            </a:pPr>
            <a:r>
              <a:rPr b="1" sz="1700">
                <a:solidFill>
                  <a:srgbClr val="000000"/>
                </a:solidFill>
                <a:latin typeface="Arial"/>
              </a:rPr>
              <a:t>•  Price sanity </a:t>
            </a:r>
            <a:r>
              <a:rPr sz="1700" b="0">
                <a:solidFill>
                  <a:srgbClr val="555B66"/>
                </a:solidFill>
                <a:latin typeface="Arial"/>
              </a:rPr>
              <a:t>Prices far below the median or recalled retail are set aside as bad data.</a:t>
            </a:r>
          </a:p>
          <a:p>
            <a:pPr algn="l">
              <a:spcAft>
                <a:spcPts val="1100"/>
              </a:spcAft>
            </a:pPr>
            <a:r>
              <a:rPr b="1" sz="1700">
                <a:solidFill>
                  <a:srgbClr val="000000"/>
                </a:solidFill>
                <a:latin typeface="Arial"/>
              </a:rPr>
              <a:t>•  Economics </a:t>
            </a:r>
            <a:r>
              <a:rPr sz="1700" b="0">
                <a:solidFill>
                  <a:srgbClr val="555B66"/>
                </a:solidFill>
                <a:latin typeface="Arial"/>
              </a:rPr>
              <a:t>Landed cost, fees, returns, postage and margin floor, in integer cents.</a:t>
            </a:r>
          </a:p>
          <a:p>
            <a:pPr algn="l">
              <a:spcAft>
                <a:spcPts val="1100"/>
              </a:spcAft>
            </a:pPr>
            <a:r>
              <a:rPr b="1" sz="1700">
                <a:solidFill>
                  <a:srgbClr val="000000"/>
                </a:solidFill>
                <a:latin typeface="Arial"/>
              </a:rPr>
              <a:t>•  Approval </a:t>
            </a:r>
            <a:r>
              <a:rPr sz="1700" b="0">
                <a:solidFill>
                  <a:srgbClr val="555B66"/>
                </a:solidFill>
                <a:latin typeface="Arial"/>
              </a:rPr>
              <a:t>Every buy is a proposal; only the requester or the owner decides.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554480"/>
            <a:ext cx="557784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100"/>
              </a:spcAft>
            </a:pPr>
            <a:r>
              <a:rPr b="1" sz="1700">
                <a:solidFill>
                  <a:srgbClr val="000000"/>
                </a:solidFill>
                <a:latin typeface="Arial"/>
              </a:rPr>
              <a:t>•  Market page </a:t>
            </a:r>
            <a:r>
              <a:rPr sz="1700" b="0">
                <a:solidFill>
                  <a:srgbClr val="555B66"/>
                </a:solidFill>
                <a:latin typeface="Arial"/>
              </a:rPr>
              <a:t>Order book of identical asks, four buyer-policy bids, spread, history chart, 3D product view.</a:t>
            </a:r>
          </a:p>
          <a:p>
            <a:pPr algn="l">
              <a:spcAft>
                <a:spcPts val="1100"/>
              </a:spcAft>
            </a:pPr>
            <a:r>
              <a:rPr b="1" sz="1700">
                <a:solidFill>
                  <a:srgbClr val="000000"/>
                </a:solidFill>
                <a:latin typeface="Arial"/>
              </a:rPr>
              <a:t>•  Watchlist and scheduler </a:t>
            </a:r>
            <a:r>
              <a:rPr sz="1700" b="0">
                <a:solidFill>
                  <a:srgbClr val="555B66"/>
                </a:solidFill>
                <a:latin typeface="Arial"/>
              </a:rPr>
              <a:t>Up to 12 products checked on a schedule, longest-waiting first.</a:t>
            </a:r>
          </a:p>
          <a:p>
            <a:pPr algn="l">
              <a:spcAft>
                <a:spcPts val="1100"/>
              </a:spcAft>
            </a:pPr>
            <a:r>
              <a:rPr b="1" sz="1700">
                <a:solidFill>
                  <a:srgbClr val="000000"/>
                </a:solidFill>
                <a:latin typeface="Arial"/>
              </a:rPr>
              <a:t>•  Live agent view </a:t>
            </a:r>
            <a:r>
              <a:rPr sz="1700" b="0">
                <a:solidFill>
                  <a:srgbClr val="555B66"/>
                </a:solidFill>
                <a:latin typeface="Arial"/>
              </a:rPr>
              <a:t>A graph that lights up as the agent searches, judges, looks and prices.</a:t>
            </a:r>
          </a:p>
          <a:p>
            <a:pPr algn="l">
              <a:spcAft>
                <a:spcPts val="1100"/>
              </a:spcAft>
            </a:pPr>
            <a:r>
              <a:rPr b="1" sz="1700">
                <a:solidFill>
                  <a:srgbClr val="000000"/>
                </a:solidFill>
                <a:latin typeface="Arial"/>
              </a:rPr>
              <a:t>•  Resale listings </a:t>
            </a:r>
            <a:r>
              <a:rPr sz="1700" b="0">
                <a:solidFill>
                  <a:srgbClr val="555B66"/>
                </a:solidFill>
                <a:latin typeface="Arial"/>
              </a:rPr>
              <a:t>Preview and send an approved resale to Google Merchant Center (owner only).</a:t>
            </a:r>
          </a:p>
          <a:p>
            <a:pPr algn="l">
              <a:spcAft>
                <a:spcPts val="1100"/>
              </a:spcAft>
            </a:pPr>
            <a:r>
              <a:rPr b="1" sz="1700">
                <a:solidFill>
                  <a:srgbClr val="000000"/>
                </a:solidFill>
                <a:latin typeface="Arial"/>
              </a:rPr>
              <a:t>•  Owner controls </a:t>
            </a:r>
            <a:r>
              <a:rPr sz="1700" b="0">
                <a:solidFill>
                  <a:srgbClr val="555B66"/>
                </a:solidFill>
                <a:latin typeface="Arial"/>
              </a:rPr>
              <a:t>Per-buy limit, margin floor, kill switch, audit log.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l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0000"/>
                </a:solidFill>
                <a:latin typeface="Arial"/>
              </a:rPr>
              <a:t>Process flow 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20240"/>
            <a:ext cx="1691640" cy="1371600"/>
          </a:xfrm>
          <a:prstGeom prst="roundRect">
            <a:avLst>
              <a:gd name="adj" fmla="val 12000"/>
            </a:avLst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 Search</a:t>
            </a:r>
          </a:p>
          <a:p>
            <a:pPr algn="ctr"/>
            <a:r>
              <a:rPr sz="1100">
                <a:solidFill>
                  <a:srgbClr val="C8CCD4"/>
                </a:solidFill>
                <a:latin typeface="Arial"/>
              </a:rPr>
              <a:t>Google Shopping listings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48840" y="2606040"/>
            <a:ext cx="219456" cy="0"/>
          </a:xfrm>
          <a:prstGeom prst="line">
            <a:avLst/>
          </a:prstGeom>
          <a:ln w="25400">
            <a:solidFill>
              <a:srgbClr val="555B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368296" y="1920240"/>
            <a:ext cx="1691640" cy="1371600"/>
          </a:xfrm>
          <a:prstGeom prst="roundRect">
            <a:avLst>
              <a:gd name="adj" fmla="val 12000"/>
            </a:avLst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 Identity gate</a:t>
            </a:r>
          </a:p>
          <a:p>
            <a:pPr algn="ctr"/>
            <a:r>
              <a:rPr sz="1100">
                <a:solidFill>
                  <a:srgbClr val="C8CCD4"/>
                </a:solidFill>
                <a:latin typeface="Arial"/>
              </a:rPr>
              <a:t>Gemini quotes evidence, code verifies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059935" y="2606040"/>
            <a:ext cx="219457" cy="0"/>
          </a:xfrm>
          <a:prstGeom prst="line">
            <a:avLst/>
          </a:prstGeom>
          <a:ln w="25400">
            <a:solidFill>
              <a:srgbClr val="555B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279392" y="1920240"/>
            <a:ext cx="1691640" cy="1371600"/>
          </a:xfrm>
          <a:prstGeom prst="roundRect">
            <a:avLst>
              <a:gd name="adj" fmla="val 12000"/>
            </a:avLst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 Photo check</a:t>
            </a:r>
          </a:p>
          <a:p>
            <a:pPr algn="ctr"/>
            <a:r>
              <a:rPr sz="1100">
                <a:solidFill>
                  <a:srgbClr val="C8CCD4"/>
                </a:solidFill>
                <a:latin typeface="Arial"/>
              </a:rPr>
              <a:t>Gemini looks at each photo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71031" y="2606040"/>
            <a:ext cx="219457" cy="0"/>
          </a:xfrm>
          <a:prstGeom prst="line">
            <a:avLst/>
          </a:prstGeom>
          <a:ln w="25400">
            <a:solidFill>
              <a:srgbClr val="555B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190488" y="1920240"/>
            <a:ext cx="1691640" cy="1371600"/>
          </a:xfrm>
          <a:prstGeom prst="roundRect">
            <a:avLst>
              <a:gd name="adj" fmla="val 12000"/>
            </a:avLst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 Price sanity</a:t>
            </a:r>
          </a:p>
          <a:p>
            <a:pPr algn="ctr"/>
            <a:r>
              <a:rPr sz="1100">
                <a:solidFill>
                  <a:srgbClr val="C8CCD4"/>
                </a:solidFill>
                <a:latin typeface="Arial"/>
              </a:rPr>
              <a:t>Impossible prices set aside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82127" y="2606040"/>
            <a:ext cx="219456" cy="0"/>
          </a:xfrm>
          <a:prstGeom prst="line">
            <a:avLst/>
          </a:prstGeom>
          <a:ln w="25400">
            <a:solidFill>
              <a:srgbClr val="555B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101583" y="1920240"/>
            <a:ext cx="1691640" cy="1371600"/>
          </a:xfrm>
          <a:prstGeom prst="roundRect">
            <a:avLst>
              <a:gd name="adj" fmla="val 12000"/>
            </a:avLst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 Economics</a:t>
            </a:r>
          </a:p>
          <a:p>
            <a:pPr algn="ctr"/>
            <a:r>
              <a:rPr sz="1100">
                <a:solidFill>
                  <a:srgbClr val="C8CCD4"/>
                </a:solidFill>
                <a:latin typeface="Arial"/>
              </a:rPr>
              <a:t>Landed cost, fees, margin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793224" y="2606040"/>
            <a:ext cx="219456" cy="0"/>
          </a:xfrm>
          <a:prstGeom prst="line">
            <a:avLst/>
          </a:prstGeom>
          <a:ln w="25400">
            <a:solidFill>
              <a:srgbClr val="555B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012680" y="1920240"/>
            <a:ext cx="1691640" cy="1371600"/>
          </a:xfrm>
          <a:prstGeom prst="roundRect">
            <a:avLst>
              <a:gd name="adj" fmla="val 12000"/>
            </a:avLst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6 Proposal</a:t>
            </a:r>
          </a:p>
          <a:p>
            <a:pPr algn="ctr"/>
            <a:r>
              <a:rPr sz="1100">
                <a:solidFill>
                  <a:srgbClr val="C8CCD4"/>
                </a:solidFill>
                <a:latin typeface="Arial"/>
              </a:rPr>
              <a:t>Buy, or an honest “no”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80" y="4114800"/>
            <a:ext cx="2743200" cy="1097280"/>
          </a:xfrm>
          <a:prstGeom prst="roundRect">
            <a:avLst>
              <a:gd name="adj" fmla="val 12000"/>
            </a:avLst>
          </a:prstGeom>
          <a:solidFill>
            <a:srgbClr val="1E8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A person approves</a:t>
            </a:r>
          </a:p>
          <a:p>
            <a:pPr algn="ctr"/>
            <a:r>
              <a:rPr sz="1100">
                <a:solidFill>
                  <a:srgbClr val="C8CCD4"/>
                </a:solidFill>
                <a:latin typeface="Arial"/>
              </a:rPr>
              <a:t>Only the requester or the owner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114800"/>
            <a:ext cx="3108960" cy="1097280"/>
          </a:xfrm>
          <a:prstGeom prst="roundRect">
            <a:avLst>
              <a:gd name="adj" fmla="val 12000"/>
            </a:avLst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Merchant Center listing</a:t>
            </a:r>
          </a:p>
          <a:p>
            <a:pPr algn="ctr"/>
            <a:r>
              <a:rPr sz="1100">
                <a:solidFill>
                  <a:srgbClr val="C8CCD4"/>
                </a:solidFill>
                <a:latin typeface="Arial"/>
              </a:rPr>
              <a:t>Owner previews, then sends the resale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5669280" y="3291840"/>
            <a:ext cx="3840480" cy="822960"/>
          </a:xfrm>
          <a:prstGeom prst="line">
            <a:avLst/>
          </a:prstGeom>
          <a:ln w="25400">
            <a:solidFill>
              <a:srgbClr val="555B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669280" y="4663440"/>
            <a:ext cx="731520" cy="0"/>
          </a:xfrm>
          <a:prstGeom prst="line">
            <a:avLst/>
          </a:prstGeom>
          <a:ln w="25400">
            <a:solidFill>
              <a:srgbClr val="555B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7200" y="5577840"/>
            <a:ext cx="112471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55B66"/>
                </a:solidFill>
                <a:latin typeface="Arial"/>
              </a:rPr>
              <a:t>Nothing identical, or no gap after costs: the agent says no and shows what it turned down. The scheduler runs the same flow on the watchlist.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l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0000"/>
                </a:solidFill>
                <a:latin typeface="Arial"/>
              </a:rPr>
              <a:t>Architecture diagram of the proposed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2011680" cy="1005840"/>
          </a:xfrm>
          <a:prstGeom prst="roundRect">
            <a:avLst>
              <a:gd name="adj" fmla="val 12000"/>
            </a:avLst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Browser</a:t>
            </a:r>
          </a:p>
          <a:p>
            <a:pPr algn="ctr"/>
            <a:r>
              <a:rPr sz="1100">
                <a:solidFill>
                  <a:srgbClr val="C8CCD4"/>
                </a:solidFill>
                <a:latin typeface="Arial"/>
              </a:rPr>
              <a:t>Astro site, 3D 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011680"/>
            <a:ext cx="2011680" cy="1005840"/>
          </a:xfrm>
          <a:prstGeom prst="roundRect">
            <a:avLst>
              <a:gd name="adj" fmla="val 12000"/>
            </a:avLst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Cloudflare edge</a:t>
            </a:r>
          </a:p>
          <a:p>
            <a:pPr algn="ctr"/>
            <a:r>
              <a:rPr sz="1100">
                <a:solidFill>
                  <a:srgbClr val="C8CCD4"/>
                </a:solidFill>
                <a:latin typeface="Arial"/>
              </a:rPr>
              <a:t>skudesk.lol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0" y="1828800"/>
            <a:ext cx="2377440" cy="1371600"/>
          </a:xfrm>
          <a:prstGeom prst="roundRect">
            <a:avLst>
              <a:gd name="adj" fmla="val 12000"/>
            </a:avLst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Cloud Run</a:t>
            </a:r>
          </a:p>
          <a:p>
            <a:pPr algn="ctr"/>
            <a:r>
              <a:rPr sz="1100">
                <a:solidFill>
                  <a:srgbClr val="C8CCD4"/>
                </a:solidFill>
                <a:latin typeface="Arial"/>
              </a:rPr>
              <a:t>Node agent, API, identity gate, scheduler endpoint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468880" y="2514600"/>
            <a:ext cx="457200" cy="0"/>
          </a:xfrm>
          <a:prstGeom prst="line">
            <a:avLst/>
          </a:prstGeom>
          <a:ln w="25400">
            <a:solidFill>
              <a:srgbClr val="555B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937760" y="2514600"/>
            <a:ext cx="457200" cy="0"/>
          </a:xfrm>
          <a:prstGeom prst="line">
            <a:avLst/>
          </a:prstGeom>
          <a:ln w="25400">
            <a:solidFill>
              <a:srgbClr val="555B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595360" y="1417320"/>
            <a:ext cx="3017520" cy="868680"/>
          </a:xfrm>
          <a:prstGeom prst="roundRect">
            <a:avLst>
              <a:gd name="adj" fmla="val 12000"/>
            </a:avLst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Gemini API</a:t>
            </a:r>
          </a:p>
          <a:p>
            <a:pPr algn="ctr"/>
            <a:r>
              <a:rPr sz="1000">
                <a:solidFill>
                  <a:srgbClr val="C8CCD4"/>
                </a:solidFill>
                <a:latin typeface="Arial"/>
              </a:rPr>
              <a:t>Identity, photos, retail recall, note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7772400" y="1847088"/>
            <a:ext cx="822960" cy="667512"/>
          </a:xfrm>
          <a:prstGeom prst="line">
            <a:avLst/>
          </a:prstGeom>
          <a:ln w="25400">
            <a:solidFill>
              <a:srgbClr val="555B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595360" y="2468880"/>
            <a:ext cx="3017520" cy="868680"/>
          </a:xfrm>
          <a:prstGeom prst="roundRect">
            <a:avLst>
              <a:gd name="adj" fmla="val 12000"/>
            </a:avLst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Google Shopping</a:t>
            </a:r>
          </a:p>
          <a:p>
            <a:pPr algn="ctr"/>
            <a:r>
              <a:rPr sz="1000">
                <a:solidFill>
                  <a:srgbClr val="C8CCD4"/>
                </a:solidFill>
                <a:latin typeface="Arial"/>
              </a:rPr>
              <a:t>via SerpApi: live listings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0" y="2514600"/>
            <a:ext cx="822960" cy="384048"/>
          </a:xfrm>
          <a:prstGeom prst="line">
            <a:avLst/>
          </a:prstGeom>
          <a:ln w="25400">
            <a:solidFill>
              <a:srgbClr val="555B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595360" y="3520439"/>
            <a:ext cx="3017520" cy="868680"/>
          </a:xfrm>
          <a:prstGeom prst="roundRect">
            <a:avLst>
              <a:gd name="adj" fmla="val 12000"/>
            </a:avLst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Merchant API</a:t>
            </a:r>
          </a:p>
          <a:p>
            <a:pPr algn="ctr"/>
            <a:r>
              <a:rPr sz="1000">
                <a:solidFill>
                  <a:srgbClr val="C8CCD4"/>
                </a:solidFill>
                <a:latin typeface="Arial"/>
              </a:rPr>
              <a:t>Resale listings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0" y="2514600"/>
            <a:ext cx="822960" cy="1435607"/>
          </a:xfrm>
          <a:prstGeom prst="line">
            <a:avLst/>
          </a:prstGeom>
          <a:ln w="25400">
            <a:solidFill>
              <a:srgbClr val="555B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572000"/>
            <a:ext cx="2286000" cy="914400"/>
          </a:xfrm>
          <a:prstGeom prst="roundRect">
            <a:avLst>
              <a:gd name="adj" fmla="val 12000"/>
            </a:avLst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Firestore</a:t>
            </a:r>
          </a:p>
          <a:p>
            <a:pPr algn="ctr"/>
            <a:r>
              <a:rPr sz="1000">
                <a:solidFill>
                  <a:srgbClr val="C8CCD4"/>
                </a:solidFill>
                <a:latin typeface="Arial"/>
              </a:rPr>
              <a:t>Checks, history, proposals, audit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2606040" y="3200400"/>
            <a:ext cx="3977640" cy="1371600"/>
          </a:xfrm>
          <a:prstGeom prst="line">
            <a:avLst/>
          </a:prstGeom>
          <a:ln w="25400">
            <a:solidFill>
              <a:srgbClr val="555B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931920" y="4572000"/>
            <a:ext cx="2286000" cy="914400"/>
          </a:xfrm>
          <a:prstGeom prst="roundRect">
            <a:avLst>
              <a:gd name="adj" fmla="val 12000"/>
            </a:avLst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Secret Manager</a:t>
            </a:r>
          </a:p>
          <a:p>
            <a:pPr algn="ctr"/>
            <a:r>
              <a:rPr sz="1000">
                <a:solidFill>
                  <a:srgbClr val="C8CCD4"/>
                </a:solidFill>
                <a:latin typeface="Arial"/>
              </a:rPr>
              <a:t>Keys and owner key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5074920" y="3200400"/>
            <a:ext cx="1508760" cy="1371600"/>
          </a:xfrm>
          <a:prstGeom prst="line">
            <a:avLst/>
          </a:prstGeom>
          <a:ln w="25400">
            <a:solidFill>
              <a:srgbClr val="555B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400800" y="4572000"/>
            <a:ext cx="2286000" cy="914400"/>
          </a:xfrm>
          <a:prstGeom prst="roundRect">
            <a:avLst>
              <a:gd name="adj" fmla="val 12000"/>
            </a:avLst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Cloud Scheduler</a:t>
            </a:r>
          </a:p>
          <a:p>
            <a:pPr algn="ctr"/>
            <a:r>
              <a:rPr sz="1000">
                <a:solidFill>
                  <a:srgbClr val="C8CCD4"/>
                </a:solidFill>
                <a:latin typeface="Arial"/>
              </a:rPr>
              <a:t>Scans the watchlist on a schedule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0" y="3200400"/>
            <a:ext cx="960120" cy="1371600"/>
          </a:xfrm>
          <a:prstGeom prst="line">
            <a:avLst/>
          </a:prstGeom>
          <a:ln w="25400">
            <a:solidFill>
              <a:srgbClr val="555B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7200" y="5806440"/>
            <a:ext cx="112471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B66"/>
                </a:solidFill>
                <a:latin typeface="Arial"/>
              </a:rPr>
              <a:t>The edge worker adds a shared secret so the service only answers traffic that came through it. The page content policy allows scripts from the site only.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l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0000"/>
                </a:solidFill>
                <a:latin typeface="Arial"/>
              </a:rPr>
              <a:t>Technologies used in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57784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600"/>
              </a:spcAft>
            </a:pPr>
            <a:r>
              <a:rPr b="1" sz="1900">
                <a:solidFill>
                  <a:srgbClr val="000000"/>
                </a:solidFill>
                <a:latin typeface="Arial"/>
              </a:rPr>
              <a:t>•  Google Cloud </a:t>
            </a:r>
            <a:r>
              <a:rPr sz="1900" b="0">
                <a:solidFill>
                  <a:srgbClr val="555B66"/>
                </a:solidFill>
                <a:latin typeface="Arial"/>
              </a:rPr>
              <a:t>Cloud Run, Firestore, Cloud Scheduler, Secret Manager, Merchant API</a:t>
            </a:r>
          </a:p>
          <a:p>
            <a:pPr algn="l">
              <a:spcAft>
                <a:spcPts val="1600"/>
              </a:spcAft>
            </a:pPr>
            <a:r>
              <a:rPr b="1" sz="1900">
                <a:solidFill>
                  <a:srgbClr val="000000"/>
                </a:solidFill>
                <a:latin typeface="Arial"/>
              </a:rPr>
              <a:t>•  Gemini </a:t>
            </a:r>
            <a:r>
              <a:rPr sz="1900" b="0">
                <a:solidFill>
                  <a:srgbClr val="555B66"/>
                </a:solidFill>
                <a:latin typeface="Arial"/>
              </a:rPr>
              <a:t>Google Gen AI SDK: structured identity verdicts, image understanding, grounded retail recall</a:t>
            </a:r>
          </a:p>
          <a:p>
            <a:pPr algn="l">
              <a:spcAft>
                <a:spcPts val="1600"/>
              </a:spcAft>
            </a:pPr>
            <a:r>
              <a:rPr b="1" sz="1900">
                <a:solidFill>
                  <a:srgbClr val="000000"/>
                </a:solidFill>
                <a:latin typeface="Arial"/>
              </a:rPr>
              <a:t>•  Google Shopping </a:t>
            </a:r>
            <a:r>
              <a:rPr sz="1900" b="0">
                <a:solidFill>
                  <a:srgbClr val="555B66"/>
                </a:solidFill>
                <a:latin typeface="Arial"/>
              </a:rPr>
              <a:t>Live listings through SerpApi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57784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600"/>
              </a:spcAft>
            </a:pPr>
            <a:r>
              <a:rPr b="1" sz="1900">
                <a:solidFill>
                  <a:srgbClr val="000000"/>
                </a:solidFill>
                <a:latin typeface="Arial"/>
              </a:rPr>
              <a:t>•  Backend </a:t>
            </a:r>
            <a:r>
              <a:rPr sz="1900" b="0">
                <a:solidFill>
                  <a:srgbClr val="555B66"/>
                </a:solidFill>
                <a:latin typeface="Arial"/>
              </a:rPr>
              <a:t>Node.js with native TypeScript, no framework, node:test</a:t>
            </a:r>
          </a:p>
          <a:p>
            <a:pPr algn="l">
              <a:spcAft>
                <a:spcPts val="1600"/>
              </a:spcAft>
            </a:pPr>
            <a:r>
              <a:rPr b="1" sz="1900">
                <a:solidFill>
                  <a:srgbClr val="000000"/>
                </a:solidFill>
                <a:latin typeface="Arial"/>
              </a:rPr>
              <a:t>•  Frontend </a:t>
            </a:r>
            <a:r>
              <a:rPr sz="1900" b="0">
                <a:solidFill>
                  <a:srgbClr val="555B66"/>
                </a:solidFill>
                <a:latin typeface="Arial"/>
              </a:rPr>
              <a:t>Astro, vanilla TypeScript, WebGL 3D view, canvas</a:t>
            </a:r>
          </a:p>
          <a:p>
            <a:pPr algn="l">
              <a:spcAft>
                <a:spcPts val="1600"/>
              </a:spcAft>
            </a:pPr>
            <a:r>
              <a:rPr b="1" sz="1900">
                <a:solidFill>
                  <a:srgbClr val="000000"/>
                </a:solidFill>
                <a:latin typeface="Arial"/>
              </a:rPr>
              <a:t>•  Quality </a:t>
            </a:r>
            <a:r>
              <a:rPr sz="1900" b="0">
                <a:solidFill>
                  <a:srgbClr val="555B66"/>
                </a:solidFill>
                <a:latin typeface="Arial"/>
              </a:rPr>
              <a:t>136 unit tests, 21 browser end-to-end tests (Playwright), a labelled evaluation set, a smoke test for the deployed service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l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0000"/>
                </a:solidFill>
                <a:latin typeface="Arial"/>
              </a:rPr>
              <a:t>Snapshots of the prototype</a:t>
            </a:r>
          </a:p>
        </p:txBody>
      </p:sp>
      <p:pic>
        <p:nvPicPr>
          <p:cNvPr id="4" name="Picture 3" descr="market-p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63040"/>
            <a:ext cx="3657600" cy="2286000"/>
          </a:xfrm>
          <a:prstGeom prst="rect">
            <a:avLst/>
          </a:prstGeom>
        </p:spPr>
      </p:pic>
      <p:pic>
        <p:nvPicPr>
          <p:cNvPr id="5" name="Picture 4" descr="market-ferrar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4528" y="1463040"/>
            <a:ext cx="3657600" cy="2286000"/>
          </a:xfrm>
          <a:prstGeom prst="rect">
            <a:avLst/>
          </a:prstGeom>
        </p:spPr>
      </p:pic>
      <p:pic>
        <p:nvPicPr>
          <p:cNvPr id="6" name="Picture 5" descr="land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7575" y="1463040"/>
            <a:ext cx="3657600" cy="2286000"/>
          </a:xfrm>
          <a:prstGeom prst="rect">
            <a:avLst/>
          </a:prstGeom>
        </p:spPr>
      </p:pic>
      <p:pic>
        <p:nvPicPr>
          <p:cNvPr id="7" name="Picture 6" descr="analytic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3931920"/>
            <a:ext cx="3657600" cy="2286000"/>
          </a:xfrm>
          <a:prstGeom prst="rect">
            <a:avLst/>
          </a:prstGeom>
        </p:spPr>
      </p:pic>
      <p:pic>
        <p:nvPicPr>
          <p:cNvPr id="8" name="Picture 7" descr="ord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24528" y="3931920"/>
            <a:ext cx="3657600" cy="2286000"/>
          </a:xfrm>
          <a:prstGeom prst="rect">
            <a:avLst/>
          </a:prstGeom>
        </p:spPr>
      </p:pic>
      <p:pic>
        <p:nvPicPr>
          <p:cNvPr id="9" name="Picture 8" descr="listing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37575" y="3931920"/>
            <a:ext cx="3657600" cy="2286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480" y="644652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55B66"/>
                </a:solidFill>
                <a:latin typeface="Arial"/>
              </a:rPr>
              <a:t>Market page (iPhone 16 Pro, LEGO Ferrari) · Resale listings · Run metrics · Landing · Approvals — live at skudesk.lol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l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0000"/>
                </a:solidFill>
                <a:latin typeface="Arial"/>
              </a:rPr>
              <a:t>Prototype performance report / benchmarking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76072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400"/>
              </a:spcAft>
            </a:pPr>
            <a:r>
              <a:rPr b="1" sz="1800">
                <a:solidFill>
                  <a:srgbClr val="000000"/>
                </a:solidFill>
                <a:latin typeface="Arial"/>
              </a:rPr>
              <a:t>67 </a:t>
            </a:r>
            <a:r>
              <a:rPr sz="1800" b="0">
                <a:solidFill>
                  <a:srgbClr val="555B66"/>
                </a:solidFill>
                <a:latin typeface="Arial"/>
              </a:rPr>
              <a:t>hand-labelled product pairs run against the real model: phones, LEGO sets, game consoles, accessories, clones, bundles, regional variants, injected instructions, Thai-language listings.</a:t>
            </a:r>
          </a:p>
          <a:p>
            <a:pPr algn="l">
              <a:spcAft>
                <a:spcPts val="1400"/>
              </a:spcAft>
            </a:pPr>
            <a:r>
              <a:rPr b="1" sz="1800">
                <a:solidFill>
                  <a:srgbClr val="000000"/>
                </a:solidFill>
                <a:latin typeface="Arial"/>
              </a:rPr>
              <a:t>0 </a:t>
            </a:r>
            <a:r>
              <a:rPr sz="1800" b="0">
                <a:solidFill>
                  <a:srgbClr val="555B66"/>
                </a:solidFill>
                <a:latin typeface="Arial"/>
              </a:rPr>
              <a:t>wrong matches (a different product called identical).</a:t>
            </a:r>
          </a:p>
          <a:p>
            <a:pPr algn="l">
              <a:spcAft>
                <a:spcPts val="1400"/>
              </a:spcAft>
            </a:pPr>
            <a:r>
              <a:rPr b="1" sz="1800">
                <a:solidFill>
                  <a:srgbClr val="000000"/>
                </a:solidFill>
                <a:latin typeface="Arial"/>
              </a:rPr>
              <a:t>0 </a:t>
            </a:r>
            <a:r>
              <a:rPr sz="1800" b="0">
                <a:solidFill>
                  <a:srgbClr val="555B66"/>
                </a:solidFill>
                <a:latin typeface="Arial"/>
              </a:rPr>
              <a:t>missed identical products.</a:t>
            </a:r>
          </a:p>
          <a:p>
            <a:pPr algn="l">
              <a:spcAft>
                <a:spcPts val="1400"/>
              </a:spcAft>
            </a:pPr>
            <a:r>
              <a:rPr b="1" sz="1800">
                <a:solidFill>
                  <a:srgbClr val="000000"/>
                </a:solidFill>
                <a:latin typeface="Arial"/>
              </a:rPr>
              <a:t>64 of 67 </a:t>
            </a:r>
            <a:r>
              <a:rPr sz="1800" b="0">
                <a:solidFill>
                  <a:srgbClr val="555B66"/>
                </a:solidFill>
                <a:latin typeface="Arial"/>
              </a:rPr>
              <a:t>exact on the verdict; the other three are “not provable”, which is the safe side.</a:t>
            </a:r>
          </a:p>
          <a:p>
            <a:pPr algn="l">
              <a:spcAft>
                <a:spcPts val="1400"/>
              </a:spcAft>
            </a:pPr>
            <a:r>
              <a:rPr b="1" sz="1800">
                <a:solidFill>
                  <a:srgbClr val="000000"/>
                </a:solidFill>
                <a:latin typeface="Arial"/>
              </a:rPr>
              <a:t>Live </a:t>
            </a:r>
            <a:r>
              <a:rPr sz="1800" b="0">
                <a:solidFill>
                  <a:srgbClr val="555B66"/>
                </a:solidFill>
                <a:latin typeface="Arial"/>
              </a:rPr>
              <a:t>Every check on the site adds to the run metrics: listings screened, passed as identical, bad prices set aside.</a:t>
            </a:r>
          </a:p>
        </p:txBody>
      </p:sp>
      <p:pic>
        <p:nvPicPr>
          <p:cNvPr id="5" name="Picture 4" descr="analy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45920"/>
            <a:ext cx="5394960" cy="3371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l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0000"/>
                </a:solidFill>
                <a:latin typeface="Arial"/>
              </a:rPr>
              <a:t>Additional details / future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4712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•  Add eBay Browse as a second source (the adapter is built and joins when its key is added).</a:t>
            </a:r>
          </a:p>
          <a:p>
            <a:pPr algn="l">
              <a:spcAft>
                <a:spcPts val="16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•  Sold-price data for resale pricing, in place of asking prices.</a:t>
            </a:r>
          </a:p>
          <a:p>
            <a:pPr algn="l">
              <a:spcAft>
                <a:spcPts val="16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•  More categories beyond phones, devices and LEGO, each with its own identity rules and labelled pairs.</a:t>
            </a:r>
          </a:p>
          <a:p>
            <a:pPr algn="l">
              <a:spcAft>
                <a:spcPts val="16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•  Seller-side agents that bid with their own cost models on the order book.</a:t>
            </a:r>
          </a:p>
          <a:p>
            <a:pPr algn="l">
              <a:spcAft>
                <a:spcPts val="16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•  Alerts when a watched product opens a gap, with the approval link in the message.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l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0000"/>
                </a:solidFill>
                <a:latin typeface="Arial"/>
              </a:rPr>
              <a:t>Provide links to your: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47120" cy="2743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400"/>
              </a:spcAft>
            </a:pPr>
            <a:r>
              <a:rPr b="1" sz="2000">
                <a:solidFill>
                  <a:srgbClr val="000000"/>
                </a:solidFill>
                <a:latin typeface="Arial"/>
              </a:rPr>
              <a:t>•  GitHub public repository </a:t>
            </a:r>
            <a:r>
              <a:rPr sz="2000" b="0">
                <a:solidFill>
                  <a:srgbClr val="555B66"/>
                </a:solidFill>
                <a:latin typeface="Arial"/>
                <a:hlinkClick r:id="rId3"/>
              </a:rPr>
              <a:t>https://github.com/johnnyduo/SKUdesk_</a:t>
            </a:r>
          </a:p>
          <a:p>
            <a:pPr algn="l">
              <a:spcAft>
                <a:spcPts val="1400"/>
              </a:spcAft>
            </a:pPr>
            <a:r>
              <a:rPr b="1" sz="2000">
                <a:solidFill>
                  <a:srgbClr val="000000"/>
                </a:solidFill>
                <a:latin typeface="Arial"/>
              </a:rPr>
              <a:t>•  Demo video link (3 minutes) </a:t>
            </a:r>
            <a:r>
              <a:rPr sz="2000" b="0">
                <a:solidFill>
                  <a:srgbClr val="555B66"/>
                </a:solidFill>
                <a:latin typeface="Arial"/>
                <a:hlinkClick r:id="rId4"/>
              </a:rPr>
              <a:t>https://youtu.be/DgpX9r0xt9Y</a:t>
            </a:r>
          </a:p>
          <a:p>
            <a:pPr algn="l">
              <a:spcAft>
                <a:spcPts val="1400"/>
              </a:spcAft>
            </a:pPr>
            <a:r>
              <a:rPr b="1" sz="2000">
                <a:solidFill>
                  <a:srgbClr val="000000"/>
                </a:solidFill>
                <a:latin typeface="Arial"/>
              </a:rPr>
              <a:t>•  Final product link </a:t>
            </a:r>
            <a:r>
              <a:rPr sz="2000" b="0">
                <a:solidFill>
                  <a:srgbClr val="555B66"/>
                </a:solidFill>
                <a:latin typeface="Arial"/>
                <a:hlinkClick r:id="rId5"/>
              </a:rPr>
              <a:t>https://skudesk.lol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l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113000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00000"/>
                </a:solidFill>
                <a:latin typeface="Arial"/>
              </a:rPr>
              <a:t>The agent at work: one real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55B66"/>
                </a:solidFill>
                <a:latin typeface="Arial"/>
              </a:rPr>
              <a:t>LEGO Technic Ferrari Daytona SP3 (42143), checked on skudesk.lol with real Google Shopping listings and real Gemini verdicts.</a:t>
            </a:r>
          </a:p>
        </p:txBody>
      </p:sp>
      <p:pic>
        <p:nvPicPr>
          <p:cNvPr id="5" name="Picture 4" descr="agent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0"/>
            <a:ext cx="5943600" cy="148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351276"/>
            <a:ext cx="59436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Arial"/>
              </a:rPr>
              <a:t>Live agent graph, from the demo recording (a check of an iPhone 16e). </a:t>
            </a:r>
            <a:r>
              <a:rPr sz="1050" b="0">
                <a:solidFill>
                  <a:srgbClr val="555B66"/>
                </a:solidFill>
                <a:latin typeface="Arial"/>
              </a:rPr>
              <a:t>Every dot is one listing moving through six stages: green = identical, red = a different product, amber = not provable.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828800"/>
            <a:ext cx="1572768" cy="749808"/>
          </a:xfrm>
          <a:prstGeom prst="roundRect">
            <a:avLst>
              <a:gd name="adj" fmla="val 10000"/>
            </a:avLst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40</a:t>
            </a:r>
          </a:p>
          <a:p>
            <a:pPr algn="ctr"/>
            <a:r>
              <a:rPr sz="1100" b="0">
                <a:solidFill>
                  <a:srgbClr val="DDE1E6"/>
                </a:solidFill>
                <a:latin typeface="Arial"/>
              </a:rPr>
              <a:t>listings found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57616" y="1828800"/>
            <a:ext cx="1572768" cy="749808"/>
          </a:xfrm>
          <a:prstGeom prst="roundRect">
            <a:avLst>
              <a:gd name="adj" fmla="val 10000"/>
            </a:avLst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30</a:t>
            </a:r>
          </a:p>
          <a:p>
            <a:pPr algn="ctr"/>
            <a:r>
              <a:rPr sz="1100" b="0">
                <a:solidFill>
                  <a:srgbClr val="DDE1E6"/>
                </a:solidFill>
                <a:latin typeface="Arial"/>
              </a:rPr>
              <a:t>judged by Gemini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40112" y="1828800"/>
            <a:ext cx="1572768" cy="749808"/>
          </a:xfrm>
          <a:prstGeom prst="roundRect">
            <a:avLst>
              <a:gd name="adj" fmla="val 10000"/>
            </a:avLst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/>
          <a:lstStyle/>
          <a:p>
            <a:pPr algn="ctr"/>
            <a:r>
              <a:rPr sz="2600" b="1">
                <a:solidFill>
                  <a:srgbClr val="CCFF00"/>
                </a:solidFill>
                <a:latin typeface="Arial"/>
              </a:rPr>
              <a:t>6</a:t>
            </a:r>
          </a:p>
          <a:p>
            <a:pPr algn="ctr"/>
            <a:r>
              <a:rPr sz="1100" b="0">
                <a:solidFill>
                  <a:srgbClr val="DDE1E6"/>
                </a:solidFill>
                <a:latin typeface="Arial"/>
              </a:rPr>
              <a:t>identical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2688336"/>
            <a:ext cx="1572768" cy="749808"/>
          </a:xfrm>
          <a:prstGeom prst="roundRect">
            <a:avLst>
              <a:gd name="adj" fmla="val 10000"/>
            </a:avLst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/>
          <a:lstStyle/>
          <a:p>
            <a:pPr algn="ctr"/>
            <a:r>
              <a:rPr sz="2600" b="1">
                <a:solidFill>
                  <a:srgbClr val="FF8A80"/>
                </a:solidFill>
                <a:latin typeface="Arial"/>
              </a:rPr>
              <a:t>20</a:t>
            </a:r>
          </a:p>
          <a:p>
            <a:pPr algn="ctr"/>
            <a:r>
              <a:rPr sz="1100" b="0">
                <a:solidFill>
                  <a:srgbClr val="DDE1E6"/>
                </a:solidFill>
                <a:latin typeface="Arial"/>
              </a:rPr>
              <a:t>different product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57616" y="2688336"/>
            <a:ext cx="1572768" cy="749808"/>
          </a:xfrm>
          <a:prstGeom prst="roundRect">
            <a:avLst>
              <a:gd name="adj" fmla="val 10000"/>
            </a:avLst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/>
          <a:lstStyle/>
          <a:p>
            <a:pPr algn="ctr"/>
            <a:r>
              <a:rPr sz="2600" b="1">
                <a:solidFill>
                  <a:srgbClr val="FFD06B"/>
                </a:solidFill>
                <a:latin typeface="Arial"/>
              </a:rPr>
              <a:t>4</a:t>
            </a:r>
          </a:p>
          <a:p>
            <a:pPr algn="ctr"/>
            <a:r>
              <a:rPr sz="1100" b="0">
                <a:solidFill>
                  <a:srgbClr val="DDE1E6"/>
                </a:solidFill>
                <a:latin typeface="Arial"/>
              </a:rPr>
              <a:t>not provable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40112" y="2688336"/>
            <a:ext cx="1572768" cy="749808"/>
          </a:xfrm>
          <a:prstGeom prst="roundRect">
            <a:avLst>
              <a:gd name="adj" fmla="val 10000"/>
            </a:avLst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  <a:p>
            <a:pPr algn="ctr"/>
            <a:r>
              <a:rPr sz="1100" b="0">
                <a:solidFill>
                  <a:srgbClr val="DDE1E6"/>
                </a:solidFill>
                <a:latin typeface="Arial"/>
              </a:rPr>
              <a:t>bad prices set aside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529584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55B66"/>
                </a:solidFill>
                <a:latin typeface="Arial"/>
              </a:rPr>
              <a:t>Of the 6 identical, 3 had prices that cannot be real ($5.83, $29.00 and $200.00 for a set that retails near $449.99), so only 3 were priced.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4224528"/>
          <a:ext cx="589788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1051560"/>
                <a:gridCol w="2057400"/>
              </a:tblGrid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Listing</a:t>
                      </a:r>
                    </a:p>
                  </a:txBody>
                  <a:tcPr marL="60000" marR="60000" marT="25000" marB="25000" anchor="ctr">
                    <a:solidFill>
                      <a:srgbClr val="0B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Verdict</a:t>
                      </a:r>
                    </a:p>
                  </a:txBody>
                  <a:tcPr marL="60000" marR="60000" marT="25000" marB="25000" anchor="ctr">
                    <a:solidFill>
                      <a:srgbClr val="0B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Why</a:t>
                      </a:r>
                    </a:p>
                  </a:txBody>
                  <a:tcPr marL="60000" marR="60000" marT="25000" marB="25000" anchor="ctr">
                    <a:solidFill>
                      <a:srgbClr val="0B0B0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B66"/>
                          </a:solidFill>
                          <a:latin typeface="Arial"/>
                        </a:rPr>
                        <a:t>Ferrari Daytona SP3 “The Sense of Perfection” book</a:t>
                      </a:r>
                    </a:p>
                  </a:txBody>
                  <a:tcPr marL="60000" marR="6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C5221F"/>
                          </a:solidFill>
                          <a:latin typeface="Arial"/>
                        </a:rPr>
                        <a:t>Different</a:t>
                      </a:r>
                    </a:p>
                  </a:txBody>
                  <a:tcPr marL="60000" marR="6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B66"/>
                          </a:solidFill>
                          <a:latin typeface="Arial"/>
                        </a:rPr>
                        <a:t>A book, not the set</a:t>
                      </a:r>
                    </a:p>
                  </a:txBody>
                  <a:tcPr marL="60000" marR="60000" marT="25000" marB="2500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B66"/>
                          </a:solidFill>
                          <a:latin typeface="Arial"/>
                        </a:rPr>
                        <a:t>Brickshell Cases Wall Display Frame</a:t>
                      </a:r>
                    </a:p>
                  </a:txBody>
                  <a:tcPr marL="60000" marR="60000" marT="25000" marB="25000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C5221F"/>
                          </a:solidFill>
                          <a:latin typeface="Arial"/>
                        </a:rPr>
                        <a:t>Different</a:t>
                      </a:r>
                    </a:p>
                  </a:txBody>
                  <a:tcPr marL="60000" marR="60000" marT="25000" marB="25000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B66"/>
                          </a:solidFill>
                          <a:latin typeface="Arial"/>
                        </a:rPr>
                        <a:t>An accessory, not the set</a:t>
                      </a:r>
                    </a:p>
                  </a:txBody>
                  <a:tcPr marL="60000" marR="60000" marT="25000" marB="25000" anchor="ctr">
                    <a:solidFill>
                      <a:srgbClr val="F1F3F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B66"/>
                          </a:solidFill>
                          <a:latin typeface="Arial"/>
                        </a:rPr>
                        <a:t>“KING 8888 compatible 42143” building blocks</a:t>
                      </a:r>
                    </a:p>
                  </a:txBody>
                  <a:tcPr marL="60000" marR="6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C5221F"/>
                          </a:solidFill>
                          <a:latin typeface="Arial"/>
                        </a:rPr>
                        <a:t>Different</a:t>
                      </a:r>
                    </a:p>
                  </a:txBody>
                  <a:tcPr marL="60000" marR="6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B66"/>
                          </a:solidFill>
                          <a:latin typeface="Arial"/>
                        </a:rPr>
                        <a:t>Other brand: a clone</a:t>
                      </a:r>
                    </a:p>
                  </a:txBody>
                  <a:tcPr marL="60000" marR="60000" marT="25000" marB="2500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B66"/>
                          </a:solidFill>
                          <a:latin typeface="Arial"/>
                        </a:rPr>
                        <a:t>eBay 42143 “Collectible Supercar Building Kit”</a:t>
                      </a:r>
                    </a:p>
                  </a:txBody>
                  <a:tcPr marL="60000" marR="60000" marT="25000" marB="25000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B06000"/>
                          </a:solidFill>
                          <a:latin typeface="Arial"/>
                        </a:rPr>
                        <a:t>Not provable</a:t>
                      </a:r>
                    </a:p>
                  </a:txBody>
                  <a:tcPr marL="60000" marR="60000" marT="25000" marB="25000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B66"/>
                          </a:solidFill>
                          <a:latin typeface="Arial"/>
                        </a:rPr>
                        <a:t>Brand not found in the listing</a:t>
                      </a:r>
                    </a:p>
                  </a:txBody>
                  <a:tcPr marL="60000" marR="60000" marT="25000" marB="25000" anchor="ctr">
                    <a:solidFill>
                      <a:srgbClr val="F1F3F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B66"/>
                          </a:solidFill>
                          <a:latin typeface="Arial"/>
                        </a:rPr>
                        <a:t>eBay LEGO Ferrari 42143 at $5.83</a:t>
                      </a:r>
                    </a:p>
                  </a:txBody>
                  <a:tcPr marL="60000" marR="6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B06000"/>
                          </a:solidFill>
                          <a:latin typeface="Arial"/>
                        </a:rPr>
                        <a:t>Set aside</a:t>
                      </a:r>
                    </a:p>
                  </a:txBody>
                  <a:tcPr marL="60000" marR="6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B66"/>
                          </a:solidFill>
                          <a:latin typeface="Arial"/>
                        </a:rPr>
                        <a:t>Impossible next to $449.99 retail</a:t>
                      </a:r>
                    </a:p>
                  </a:txBody>
                  <a:tcPr marL="60000" marR="60000" marT="25000" marB="2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57200" y="3895344"/>
            <a:ext cx="640080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Five listings the agent did not trade on, and why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4041648"/>
            <a:ext cx="5029200" cy="2267712"/>
          </a:xfrm>
          <a:prstGeom prst="roundRect">
            <a:avLst>
              <a:gd name="adj" fmla="val 10000"/>
            </a:avLst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0000" rIns="150000"/>
          <a:lstStyle/>
          <a:p>
            <a:pPr algn="l">
              <a:spcAft>
                <a:spcPts val="700"/>
              </a:spcAft>
            </a:pPr>
            <a:r>
              <a:rPr sz="1250" b="0">
                <a:solidFill>
                  <a:srgbClr val="DDE1E6"/>
                </a:solidFill>
                <a:latin typeface="Arial"/>
              </a:rPr>
              <a:t>Buy </a:t>
            </a:r>
            <a:r>
              <a:rPr sz="1250" b="1">
                <a:solidFill>
                  <a:srgbClr val="FFFFFF"/>
                </a:solidFill>
                <a:latin typeface="Arial"/>
              </a:rPr>
              <a:t>BrickFever $525.00 landed</a:t>
            </a:r>
            <a:r>
              <a:rPr sz="1250" b="0">
                <a:solidFill>
                  <a:srgbClr val="9AA3B2"/>
                </a:solidFill>
                <a:latin typeface="Arial"/>
              </a:rPr>
              <a:t> ($515.00 + $10.00 assumed shipping)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DDE1E6"/>
                </a:solidFill>
                <a:latin typeface="Arial"/>
              </a:rPr>
              <a:t>Resell at </a:t>
            </a:r>
            <a:r>
              <a:rPr sz="1250" b="1">
                <a:solidFill>
                  <a:srgbClr val="FFFFFF"/>
                </a:solidFill>
                <a:latin typeface="Arial"/>
              </a:rPr>
              <a:t>$700.42</a:t>
            </a:r>
            <a:r>
              <a:rPr sz="1250" b="0">
                <a:solidFill>
                  <a:srgbClr val="9AA3B2"/>
                </a:solidFill>
                <a:latin typeface="Arial"/>
              </a:rPr>
              <a:t> (next cheapest identical ask)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DDE1E6"/>
                </a:solidFill>
                <a:latin typeface="Arial"/>
              </a:rPr>
              <a:t>Costs </a:t>
            </a:r>
            <a:r>
              <a:rPr sz="1250" b="1">
                <a:solidFill>
                  <a:srgbClr val="FFFFFF"/>
                </a:solidFill>
                <a:latin typeface="Arial"/>
              </a:rPr>
              <a:t>13% fee $91.05, 2% returns $14.01, postage $15.00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DDE1E6"/>
                </a:solidFill>
                <a:latin typeface="Arial"/>
              </a:rPr>
              <a:t>Net </a:t>
            </a:r>
            <a:r>
              <a:rPr sz="1250" b="1">
                <a:solidFill>
                  <a:srgbClr val="CCFF00"/>
                </a:solidFill>
                <a:latin typeface="Arial"/>
              </a:rPr>
              <a:t>+$55.36 (10.5%)</a:t>
            </a:r>
            <a:r>
              <a:rPr sz="1250" b="0">
                <a:solidFill>
                  <a:srgbClr val="9AA3B2"/>
                </a:solidFill>
                <a:latin typeface="Arial"/>
              </a:rPr>
              <a:t>, above the 10% margin floor</a:t>
            </a:r>
          </a:p>
          <a:p>
            <a:pPr algn="l">
              <a:spcAft>
                <a:spcPts val="7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A proposal now waits for a person. The agent does not buy.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9AA3B2"/>
                </a:solidFill>
                <a:latin typeface="Arial"/>
              </a:rPr>
              <a:t>Asking prices, not sold prices. Checked 16 Oct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